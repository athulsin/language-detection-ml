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73" r:id="rId7"/>
    <p:sldId id="282" r:id="rId8"/>
    <p:sldId id="283" r:id="rId9"/>
    <p:sldId id="284" r:id="rId10"/>
    <p:sldId id="274" r:id="rId11"/>
    <p:sldId id="275" r:id="rId12"/>
    <p:sldId id="266" r:id="rId13"/>
    <p:sldId id="276" r:id="rId14"/>
    <p:sldId id="281" r:id="rId15"/>
    <p:sldId id="262" r:id="rId16"/>
    <p:sldId id="278" r:id="rId17"/>
    <p:sldId id="279" r:id="rId18"/>
    <p:sldId id="280" r:id="rId19"/>
    <p:sldId id="269" r:id="rId20"/>
    <p:sldId id="277" r:id="rId21"/>
    <p:sldId id="265" r:id="rId22"/>
    <p:sldId id="272" r:id="rId23"/>
  </p:sldIdLst>
  <p:sldSz cx="18288000" cy="10287000"/>
  <p:notesSz cx="6858000" cy="9144000"/>
  <p:embeddedFontLst>
    <p:embeddedFont>
      <p:font typeface="DM Sans" pitchFamily="2" charset="0"/>
      <p:regular r:id="rId24"/>
      <p:bold r:id="rId25"/>
    </p:embeddedFont>
    <p:embeddedFont>
      <p:font typeface="DM Sans Bold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905828" y="-67524"/>
            <a:ext cx="6802445" cy="10392624"/>
          </a:xfrm>
          <a:custGeom>
            <a:avLst/>
            <a:gdLst/>
            <a:ahLst/>
            <a:cxnLst/>
            <a:rect l="l" t="t" r="r" b="b"/>
            <a:pathLst>
              <a:path w="6802445" h="10392624">
                <a:moveTo>
                  <a:pt x="0" y="0"/>
                </a:moveTo>
                <a:lnTo>
                  <a:pt x="6802444" y="0"/>
                </a:lnTo>
                <a:lnTo>
                  <a:pt x="6802444" y="10392624"/>
                </a:lnTo>
                <a:lnTo>
                  <a:pt x="0" y="10392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3317382"/>
            <a:ext cx="12700992" cy="2701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499"/>
              </a:lnSpc>
            </a:pPr>
            <a:r>
              <a:rPr lang="en-US" sz="9600" b="1" dirty="0">
                <a:solidFill>
                  <a:schemeClr val="bg1"/>
                </a:solidFill>
              </a:rPr>
              <a:t>Language Detection Using NLP &amp; ML</a:t>
            </a:r>
            <a:endParaRPr lang="en-US" sz="9999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6012957"/>
            <a:ext cx="8282211" cy="1591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IN" sz="3200" dirty="0">
                <a:solidFill>
                  <a:schemeClr val="bg1"/>
                </a:solidFill>
              </a:rPr>
              <a:t>Mini Project – </a:t>
            </a:r>
            <a:br>
              <a:rPr lang="en-IN" sz="3200" dirty="0">
                <a:solidFill>
                  <a:schemeClr val="bg1"/>
                </a:solidFill>
              </a:rPr>
            </a:br>
            <a:r>
              <a:rPr lang="en-IN" sz="3200" dirty="0">
                <a:solidFill>
                  <a:schemeClr val="bg1"/>
                </a:solidFill>
              </a:rPr>
              <a:t>Advanced Machine Learning (23CSE514)</a:t>
            </a:r>
            <a:br>
              <a:rPr lang="en-IN" sz="3200" dirty="0">
                <a:solidFill>
                  <a:schemeClr val="bg1"/>
                </a:solidFill>
              </a:rPr>
            </a:br>
            <a:r>
              <a:rPr lang="en-IN" sz="3200" b="1" dirty="0">
                <a:solidFill>
                  <a:schemeClr val="bg1"/>
                </a:solidFill>
              </a:rPr>
              <a:t>B.Tech CSE – AI</a:t>
            </a:r>
            <a:endParaRPr lang="en-US" sz="3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8951595"/>
            <a:ext cx="2609999" cy="30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1" spc="360" dirty="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Athul S Nair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7555" y="1181100"/>
            <a:ext cx="3376316" cy="328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1" spc="36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JAIN UNIVERSITY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43871" y="8951595"/>
            <a:ext cx="274759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1" spc="360" dirty="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23BTRCA019</a:t>
            </a:r>
            <a:endParaRPr lang="en-US" sz="1800" b="1" spc="360" dirty="0">
              <a:solidFill>
                <a:srgbClr val="BFA8E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44744" y="800100"/>
            <a:ext cx="6522021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9005755" y="482797"/>
            <a:ext cx="8253545" cy="13234547"/>
          </a:xfrm>
          <a:custGeom>
            <a:avLst/>
            <a:gdLst/>
            <a:ahLst/>
            <a:cxnLst/>
            <a:rect l="l" t="t" r="r" b="b"/>
            <a:pathLst>
              <a:path w="8253545" h="13234547">
                <a:moveTo>
                  <a:pt x="0" y="0"/>
                </a:moveTo>
                <a:lnTo>
                  <a:pt x="8253545" y="0"/>
                </a:lnTo>
                <a:lnTo>
                  <a:pt x="8253545" y="13234546"/>
                </a:lnTo>
                <a:lnTo>
                  <a:pt x="0" y="13234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58B3FB0-F0D3-ADE2-D672-3BEFF6F89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51766"/>
            <a:ext cx="89916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Language detection = identifying the language of any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Used in translation systems, NLP pipelines, chatbots, search engines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project detects 17 different languages using Machine Learning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Uses TF-IDF + Logistic Regression for high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42110" y="1957853"/>
            <a:ext cx="18303952" cy="3551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35" name="TextBox 35"/>
          <p:cNvSpPr txBox="1"/>
          <p:nvPr/>
        </p:nvSpPr>
        <p:spPr>
          <a:xfrm>
            <a:off x="2725613" y="800100"/>
            <a:ext cx="12820822" cy="1157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IN" sz="7200" b="1" dirty="0">
                <a:solidFill>
                  <a:schemeClr val="bg1"/>
                </a:solidFill>
              </a:rPr>
              <a:t>Prior Study (Literature Review)</a:t>
            </a:r>
            <a:endParaRPr lang="en-US" sz="72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" name="Rectangle 1">
            <a:extLst>
              <a:ext uri="{FF2B5EF4-FFF2-40B4-BE49-F238E27FC236}">
                <a16:creationId xmlns:a16="http://schemas.microsoft.com/office/drawing/2014/main" id="{C07B06C3-5662-7B40-9DFA-1BC9EF467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4677" y="2881342"/>
            <a:ext cx="981037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Traditional rule-based approaches: dictionaries, stopwords (not accurate)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N-gram models by Cavnar &amp; Trenkle (1994) → high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ML models used: Naïve Bayes, Logistic Regression, SVM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Deep learning exists but heavy for small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TF-IDF + LR remains most practical and effective for language identification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62800" y="952500"/>
            <a:ext cx="10591800" cy="1239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IN" sz="9600" b="1" dirty="0">
                <a:solidFill>
                  <a:schemeClr val="bg1"/>
                </a:solidFill>
              </a:rPr>
              <a:t>Problem Statement</a:t>
            </a:r>
            <a:endParaRPr lang="en-US" sz="9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Freeform 4"/>
          <p:cNvSpPr/>
          <p:nvPr/>
        </p:nvSpPr>
        <p:spPr>
          <a:xfrm rot="5385950">
            <a:off x="-1938970" y="1748074"/>
            <a:ext cx="10432873" cy="6790852"/>
          </a:xfrm>
          <a:custGeom>
            <a:avLst/>
            <a:gdLst/>
            <a:ahLst/>
            <a:cxnLst/>
            <a:rect l="l" t="t" r="r" b="b"/>
            <a:pathLst>
              <a:path w="10432873" h="6790852">
                <a:moveTo>
                  <a:pt x="0" y="0"/>
                </a:moveTo>
                <a:lnTo>
                  <a:pt x="10432873" y="0"/>
                </a:lnTo>
                <a:lnTo>
                  <a:pt x="10432873" y="6790852"/>
                </a:lnTo>
                <a:lnTo>
                  <a:pt x="0" y="6790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5342783-509E-A4B0-97F8-4A4E8A24F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237011"/>
            <a:ext cx="89154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Need automatic language identification from user input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Multilingual datasets contain multiple scripts (Latin, Arabic, Devanagari, Dravidian)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Dataset imbalance leads to bias in predictions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Goal: Build a robust, accurate, script-independent language detection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269008" y="723900"/>
            <a:ext cx="5749984" cy="1259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IN" sz="9600" b="1" dirty="0">
                <a:solidFill>
                  <a:schemeClr val="bg1"/>
                </a:solidFill>
              </a:rPr>
              <a:t>Dataset</a:t>
            </a:r>
            <a:endParaRPr lang="en-US" sz="9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AutoShape 10"/>
          <p:cNvSpPr/>
          <p:nvPr/>
        </p:nvSpPr>
        <p:spPr>
          <a:xfrm flipH="1">
            <a:off x="17297400" y="-719578"/>
            <a:ext cx="0" cy="11976390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32AE2E3-F264-1DD7-9EB3-1C550F8B0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6" y="3314700"/>
            <a:ext cx="7000874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Dataset: Language Detection.csv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Contains 17 languages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Around 10,267 samples originally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Highly imbalanced: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English &gt; 1000 samples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Hindi ~ 63 samples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Balancing required to avoid bias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5BFFCEBB-143A-FC6D-C326-F3836AFE8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857500"/>
            <a:ext cx="10067925" cy="521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E97DEA-A6DB-2FB7-24C9-FD6EE5E99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286527C4-906D-B9BD-480A-3BA2620C6D87}"/>
              </a:ext>
            </a:extLst>
          </p:cNvPr>
          <p:cNvSpPr txBox="1"/>
          <p:nvPr/>
        </p:nvSpPr>
        <p:spPr>
          <a:xfrm>
            <a:off x="5382403" y="800100"/>
            <a:ext cx="7523192" cy="1239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IN" sz="9600" b="1" dirty="0">
                <a:solidFill>
                  <a:schemeClr val="bg1"/>
                </a:solidFill>
              </a:rPr>
              <a:t>Methodology</a:t>
            </a:r>
            <a:endParaRPr lang="en-US" sz="9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97556EBB-103A-A67F-7F51-220C2B172B98}"/>
              </a:ext>
            </a:extLst>
          </p:cNvPr>
          <p:cNvSpPr/>
          <p:nvPr/>
        </p:nvSpPr>
        <p:spPr>
          <a:xfrm flipH="1">
            <a:off x="17297400" y="-719578"/>
            <a:ext cx="0" cy="11976390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370110-71F3-32A7-6E6F-C3658FB01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7797" y="2881342"/>
            <a:ext cx="919240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Cleaning: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Remove nulls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Remove duplicates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Convert text to lowercase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Feature extraction: Character-level TF-IDF (2–4 n-grams)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Balancing: Random Oversampling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Train-test split: 80% training, 20%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Model: Logistic Regression (multiclass)</a:t>
            </a:r>
          </a:p>
        </p:txBody>
      </p:sp>
    </p:spTree>
    <p:extLst>
      <p:ext uri="{BB962C8B-B14F-4D97-AF65-F5344CB8AC3E}">
        <p14:creationId xmlns:p14="http://schemas.microsoft.com/office/powerpoint/2010/main" val="4088292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7881E5-5F74-ACB5-16B1-5EAB81C4F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D05D20DE-8B18-F07E-FF68-31A57FB02A2C}"/>
              </a:ext>
            </a:extLst>
          </p:cNvPr>
          <p:cNvSpPr txBox="1"/>
          <p:nvPr/>
        </p:nvSpPr>
        <p:spPr>
          <a:xfrm>
            <a:off x="2514600" y="647700"/>
            <a:ext cx="12829397" cy="1117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US" sz="6000" b="1" dirty="0">
                <a:solidFill>
                  <a:schemeClr val="bg1"/>
                </a:solidFill>
              </a:rPr>
              <a:t>How does the model detect a language?</a:t>
            </a:r>
            <a:endParaRPr lang="en-US" sz="6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D1BA6168-7851-78EE-4A16-6D05F63B3AFF}"/>
              </a:ext>
            </a:extLst>
          </p:cNvPr>
          <p:cNvSpPr/>
          <p:nvPr/>
        </p:nvSpPr>
        <p:spPr>
          <a:xfrm flipH="1">
            <a:off x="17297400" y="-719578"/>
            <a:ext cx="0" cy="11976390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A1903B-9ED8-99CA-E936-28C47AED1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986564"/>
            <a:ext cx="919240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Step 1 → Input comes from user</a:t>
            </a:r>
          </a:p>
          <a:p>
            <a:r>
              <a:rPr lang="en-US" sz="2400" dirty="0">
                <a:solidFill>
                  <a:schemeClr val="bg1"/>
                </a:solidFill>
              </a:rPr>
              <a:t>Example: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“hello"</a:t>
            </a:r>
            <a:endParaRPr lang="en-US" sz="2400" dirty="0">
              <a:solidFill>
                <a:schemeClr val="bg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Step 2 → Convert text into character n-grams</a:t>
            </a:r>
          </a:p>
          <a:p>
            <a:r>
              <a:rPr lang="en-US" sz="2400" dirty="0">
                <a:solidFill>
                  <a:schemeClr val="bg1"/>
                </a:solidFill>
              </a:rPr>
              <a:t>The sentence becomes many pieces like: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For the word "hello":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	2-gram (bigram): he, el, ll, lo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	3-gram (trigram): hel, ell, llo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	4-gram: hell, ello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So, an n-gram helps the model learn the patterns of characters that are unique to each language.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027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E7D21-72E3-3A91-0AED-D09B5BF8F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79EDC5C-619F-692B-24E5-92E16EF5FC26}"/>
              </a:ext>
            </a:extLst>
          </p:cNvPr>
          <p:cNvSpPr txBox="1"/>
          <p:nvPr/>
        </p:nvSpPr>
        <p:spPr>
          <a:xfrm>
            <a:off x="2514600" y="647700"/>
            <a:ext cx="12829397" cy="1117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US" sz="6000" b="1" dirty="0">
                <a:solidFill>
                  <a:schemeClr val="bg1"/>
                </a:solidFill>
              </a:rPr>
              <a:t>How does the model detect a language?</a:t>
            </a:r>
            <a:endParaRPr lang="en-US" sz="6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6B2BA76B-E3F1-42ED-5C4A-45FE29F618B9}"/>
              </a:ext>
            </a:extLst>
          </p:cNvPr>
          <p:cNvSpPr/>
          <p:nvPr/>
        </p:nvSpPr>
        <p:spPr>
          <a:xfrm flipH="1">
            <a:off x="17297400" y="-719578"/>
            <a:ext cx="0" cy="11976390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C33198-3B21-42E6-ADCC-53309C3E5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247901"/>
            <a:ext cx="9192404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Step 3 → TF-IDF gives weights to each n-gram</a:t>
            </a:r>
          </a:p>
          <a:p>
            <a:r>
              <a:rPr lang="en-US" sz="2400" dirty="0">
                <a:solidFill>
                  <a:schemeClr val="bg1"/>
                </a:solidFill>
              </a:rPr>
              <a:t>TF-IDF assigns:</a:t>
            </a:r>
          </a:p>
          <a:p>
            <a:r>
              <a:rPr lang="en-US" sz="2400" dirty="0">
                <a:solidFill>
                  <a:schemeClr val="bg1"/>
                </a:solidFill>
              </a:rPr>
              <a:t>High weight → if a character pattern is important/unique</a:t>
            </a:r>
          </a:p>
          <a:p>
            <a:r>
              <a:rPr lang="en-US" sz="2400" dirty="0">
                <a:solidFill>
                  <a:schemeClr val="bg1"/>
                </a:solidFill>
              </a:rPr>
              <a:t>Low weight → if it is common in many languages</a:t>
            </a:r>
          </a:p>
          <a:p>
            <a:r>
              <a:rPr lang="en-US" sz="2400" dirty="0">
                <a:solidFill>
                  <a:schemeClr val="bg1"/>
                </a:solidFill>
              </a:rPr>
              <a:t>This converts text → </a:t>
            </a:r>
            <a:r>
              <a:rPr lang="en-US" sz="2400" b="1" dirty="0">
                <a:solidFill>
                  <a:schemeClr val="bg1"/>
                </a:solidFill>
              </a:rPr>
              <a:t>numeric vector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Step 4 → Logistic Regression uses learned patterns</a:t>
            </a:r>
          </a:p>
          <a:p>
            <a:r>
              <a:rPr lang="en-IN" sz="2400" dirty="0">
                <a:solidFill>
                  <a:schemeClr val="bg1"/>
                </a:solidFill>
              </a:rPr>
              <a:t>During training, the model saw thousands of samples per language and learned:</a:t>
            </a:r>
          </a:p>
          <a:p>
            <a:r>
              <a:rPr lang="en-IN" sz="2400" dirty="0">
                <a:solidFill>
                  <a:schemeClr val="bg1"/>
                </a:solidFill>
              </a:rPr>
              <a:t>Spanish texts = have patterns like "¿", "ó", "</a:t>
            </a:r>
            <a:r>
              <a:rPr lang="en-IN" sz="2400" dirty="0" err="1">
                <a:solidFill>
                  <a:schemeClr val="bg1"/>
                </a:solidFill>
              </a:rPr>
              <a:t>está</a:t>
            </a:r>
            <a:r>
              <a:rPr lang="en-IN" sz="2400" dirty="0">
                <a:solidFill>
                  <a:schemeClr val="bg1"/>
                </a:solidFill>
              </a:rPr>
              <a:t>", "que"</a:t>
            </a:r>
          </a:p>
          <a:p>
            <a:r>
              <a:rPr lang="en-IN" sz="2400" dirty="0">
                <a:solidFill>
                  <a:schemeClr val="bg1"/>
                </a:solidFill>
              </a:rPr>
              <a:t>Hindi = “</a:t>
            </a:r>
            <a:r>
              <a:rPr lang="hi-IN" sz="2400" dirty="0">
                <a:solidFill>
                  <a:schemeClr val="bg1"/>
                </a:solidFill>
              </a:rPr>
              <a:t>क”, “न”, “ि” </a:t>
            </a:r>
            <a:r>
              <a:rPr lang="en-IN" sz="2400" dirty="0">
                <a:solidFill>
                  <a:schemeClr val="bg1"/>
                </a:solidFill>
              </a:rPr>
              <a:t>etc.</a:t>
            </a:r>
          </a:p>
          <a:p>
            <a:r>
              <a:rPr lang="en-IN" sz="2400" dirty="0">
                <a:solidFill>
                  <a:schemeClr val="bg1"/>
                </a:solidFill>
              </a:rPr>
              <a:t>Malayalam = “</a:t>
            </a:r>
            <a:r>
              <a:rPr lang="ml-IN" sz="2400" dirty="0">
                <a:solidFill>
                  <a:schemeClr val="bg1"/>
                </a:solidFill>
              </a:rPr>
              <a:t>ത്ത്”, “ക്ക”, “ാൻ”</a:t>
            </a:r>
          </a:p>
          <a:p>
            <a:r>
              <a:rPr lang="en-IN" sz="2400" dirty="0">
                <a:solidFill>
                  <a:schemeClr val="bg1"/>
                </a:solidFill>
              </a:rPr>
              <a:t>Arabic = “</a:t>
            </a:r>
            <a:r>
              <a:rPr lang="ar-AE" sz="2400" dirty="0">
                <a:solidFill>
                  <a:schemeClr val="bg1"/>
                </a:solidFill>
              </a:rPr>
              <a:t>ال”, “مر”, “كا”</a:t>
            </a:r>
          </a:p>
          <a:p>
            <a:r>
              <a:rPr lang="en-IN" sz="2400" dirty="0">
                <a:solidFill>
                  <a:schemeClr val="bg1"/>
                </a:solidFill>
              </a:rPr>
              <a:t>English = “the”, “</a:t>
            </a:r>
            <a:r>
              <a:rPr lang="en-IN" sz="2400" dirty="0" err="1">
                <a:solidFill>
                  <a:schemeClr val="bg1"/>
                </a:solidFill>
              </a:rPr>
              <a:t>ing</a:t>
            </a:r>
            <a:r>
              <a:rPr lang="en-IN" sz="2400" dirty="0">
                <a:solidFill>
                  <a:schemeClr val="bg1"/>
                </a:solidFill>
              </a:rPr>
              <a:t>”, “er”</a:t>
            </a:r>
          </a:p>
          <a:p>
            <a:r>
              <a:rPr lang="en-IN" sz="2400" dirty="0">
                <a:solidFill>
                  <a:schemeClr val="bg1"/>
                </a:solidFill>
              </a:rPr>
              <a:t>It learns </a:t>
            </a:r>
            <a:r>
              <a:rPr lang="en-IN" sz="2400" b="1" dirty="0">
                <a:solidFill>
                  <a:schemeClr val="bg1"/>
                </a:solidFill>
              </a:rPr>
              <a:t>character fingerprints</a:t>
            </a:r>
            <a:r>
              <a:rPr lang="en-IN" sz="2400" dirty="0">
                <a:solidFill>
                  <a:schemeClr val="bg1"/>
                </a:solidFill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52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5D08A-C48B-E2B5-D4CA-42EC0F53F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014FC5BE-B4E9-7488-EE94-8FE82799900A}"/>
              </a:ext>
            </a:extLst>
          </p:cNvPr>
          <p:cNvSpPr txBox="1"/>
          <p:nvPr/>
        </p:nvSpPr>
        <p:spPr>
          <a:xfrm>
            <a:off x="2514600" y="647700"/>
            <a:ext cx="12829397" cy="1117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US" sz="6000" b="1" dirty="0">
                <a:solidFill>
                  <a:schemeClr val="bg1"/>
                </a:solidFill>
              </a:rPr>
              <a:t>How does the model detect a language?</a:t>
            </a:r>
            <a:endParaRPr lang="en-US" sz="6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31A52F72-B079-937D-357A-FBAF0E279D63}"/>
              </a:ext>
            </a:extLst>
          </p:cNvPr>
          <p:cNvSpPr/>
          <p:nvPr/>
        </p:nvSpPr>
        <p:spPr>
          <a:xfrm flipH="1">
            <a:off x="17297400" y="-719578"/>
            <a:ext cx="0" cy="11976390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CE2D55-7D26-1DE8-CBFF-AF9049CA8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933700"/>
            <a:ext cx="919240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Step 5 → Model predicts the language</a:t>
            </a:r>
          </a:p>
          <a:p>
            <a:r>
              <a:rPr lang="en-US" sz="2400" dirty="0">
                <a:solidFill>
                  <a:schemeClr val="bg1"/>
                </a:solidFill>
              </a:rPr>
              <a:t>Example output:</a:t>
            </a:r>
          </a:p>
          <a:p>
            <a:r>
              <a:rPr lang="en-US" sz="2400" dirty="0">
                <a:solidFill>
                  <a:schemeClr val="bg1"/>
                </a:solidFill>
              </a:rPr>
              <a:t>Spanish: </a:t>
            </a:r>
            <a:r>
              <a:rPr lang="en-US" sz="2400" b="1" dirty="0">
                <a:solidFill>
                  <a:schemeClr val="bg1"/>
                </a:solidFill>
              </a:rPr>
              <a:t>0.98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Portuguese: 0.01</a:t>
            </a:r>
          </a:p>
          <a:p>
            <a:r>
              <a:rPr lang="en-US" sz="2400" dirty="0">
                <a:solidFill>
                  <a:schemeClr val="bg1"/>
                </a:solidFill>
              </a:rPr>
              <a:t>Italian: 0.01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So, the predicted language = English.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112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14572-2749-C8D5-6E1D-FD3469458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18DEA29B-B8E9-D4E8-71E5-4336D387C348}"/>
              </a:ext>
            </a:extLst>
          </p:cNvPr>
          <p:cNvSpPr/>
          <p:nvPr/>
        </p:nvSpPr>
        <p:spPr>
          <a:xfrm>
            <a:off x="18010276" y="4182015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60" y="0"/>
                </a:lnTo>
                <a:lnTo>
                  <a:pt x="5860360" y="8017904"/>
                </a:lnTo>
                <a:lnTo>
                  <a:pt x="0" y="8017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22A6D87-58F3-9F1A-41DD-D9ED6552E457}"/>
              </a:ext>
            </a:extLst>
          </p:cNvPr>
          <p:cNvSpPr/>
          <p:nvPr/>
        </p:nvSpPr>
        <p:spPr>
          <a:xfrm>
            <a:off x="-5584799" y="-1720677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59" y="0"/>
                </a:lnTo>
                <a:lnTo>
                  <a:pt x="5860359" y="8017905"/>
                </a:lnTo>
                <a:lnTo>
                  <a:pt x="0" y="8017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3B1F873-1642-B31B-643C-9D03AB8CED51}"/>
              </a:ext>
            </a:extLst>
          </p:cNvPr>
          <p:cNvSpPr txBox="1"/>
          <p:nvPr/>
        </p:nvSpPr>
        <p:spPr>
          <a:xfrm>
            <a:off x="2401900" y="1192462"/>
            <a:ext cx="13484200" cy="1079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IN" sz="8000" b="1" dirty="0">
                <a:solidFill>
                  <a:schemeClr val="bg1"/>
                </a:solidFill>
              </a:rPr>
              <a:t>Code Implementation (Training)</a:t>
            </a:r>
            <a:endParaRPr lang="en-US" sz="8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3EC0AE-323D-D1E8-314B-55C5F1DAD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3900" y="3435340"/>
            <a:ext cx="92202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TF-IDF vectorizer for character n-grams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RandomOverSampler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() for balancing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LogisticRegression(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max_iter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=2000) for stable 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Save model using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joblib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Prediction function defined for inference</a:t>
            </a:r>
          </a:p>
        </p:txBody>
      </p:sp>
    </p:spTree>
    <p:extLst>
      <p:ext uri="{BB962C8B-B14F-4D97-AF65-F5344CB8AC3E}">
        <p14:creationId xmlns:p14="http://schemas.microsoft.com/office/powerpoint/2010/main" val="268534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2BCFD-B8BC-96BA-D5FC-E83879B64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676971EA-03A9-634D-F200-F2674591D75D}"/>
              </a:ext>
            </a:extLst>
          </p:cNvPr>
          <p:cNvSpPr/>
          <p:nvPr/>
        </p:nvSpPr>
        <p:spPr>
          <a:xfrm>
            <a:off x="18010276" y="4182015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60" y="0"/>
                </a:lnTo>
                <a:lnTo>
                  <a:pt x="5860360" y="8017904"/>
                </a:lnTo>
                <a:lnTo>
                  <a:pt x="0" y="8017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53FBC2F-5992-2F10-A1E1-4388FF01F626}"/>
              </a:ext>
            </a:extLst>
          </p:cNvPr>
          <p:cNvSpPr/>
          <p:nvPr/>
        </p:nvSpPr>
        <p:spPr>
          <a:xfrm>
            <a:off x="-5584799" y="-1720677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59" y="0"/>
                </a:lnTo>
                <a:lnTo>
                  <a:pt x="5860359" y="8017905"/>
                </a:lnTo>
                <a:lnTo>
                  <a:pt x="0" y="8017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44A7086-9686-9611-AA0A-B08793111DDD}"/>
              </a:ext>
            </a:extLst>
          </p:cNvPr>
          <p:cNvSpPr txBox="1"/>
          <p:nvPr/>
        </p:nvSpPr>
        <p:spPr>
          <a:xfrm>
            <a:off x="3352800" y="571500"/>
            <a:ext cx="11582400" cy="1011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IN" sz="6000" b="1" dirty="0">
                <a:solidFill>
                  <a:schemeClr val="bg1"/>
                </a:solidFill>
              </a:rPr>
              <a:t>Code Implementation (Training)</a:t>
            </a:r>
            <a:endParaRPr lang="en-US" sz="6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316239-A1F4-E374-1980-8A00A0502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00299"/>
            <a:ext cx="5382768" cy="57151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806501-1FE1-7ABD-AA07-1FAD5A127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400300"/>
            <a:ext cx="6004471" cy="571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6C7833-7A9F-4811-D2C8-F366483DF2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1303" y="2095500"/>
            <a:ext cx="5354239" cy="629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19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640006" y="647700"/>
            <a:ext cx="12928476" cy="1129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IN" sz="6000" b="1" dirty="0">
                <a:solidFill>
                  <a:schemeClr val="bg1"/>
                </a:solidFill>
              </a:rPr>
              <a:t>Model Evaluation</a:t>
            </a:r>
            <a:endParaRPr lang="en-US" sz="6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7663B21-CC35-1DCA-50C1-0A617F8F2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4648200"/>
            <a:ext cx="5122445" cy="990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F57199C-0DB8-7C86-7097-57326DC9E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0" y="2019300"/>
            <a:ext cx="7391400" cy="71775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18CCB-4CE5-6358-689F-56E5E4F6C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AD167A1C-6139-45C7-E525-C42574A41408}"/>
              </a:ext>
            </a:extLst>
          </p:cNvPr>
          <p:cNvSpPr/>
          <p:nvPr/>
        </p:nvSpPr>
        <p:spPr>
          <a:xfrm>
            <a:off x="18010276" y="4182015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60" y="0"/>
                </a:lnTo>
                <a:lnTo>
                  <a:pt x="5860360" y="8017904"/>
                </a:lnTo>
                <a:lnTo>
                  <a:pt x="0" y="8017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B7D22D2-BECE-11B4-5864-B5B2FC0E128F}"/>
              </a:ext>
            </a:extLst>
          </p:cNvPr>
          <p:cNvSpPr/>
          <p:nvPr/>
        </p:nvSpPr>
        <p:spPr>
          <a:xfrm>
            <a:off x="-5584799" y="-1720677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59" y="0"/>
                </a:lnTo>
                <a:lnTo>
                  <a:pt x="5860359" y="8017905"/>
                </a:lnTo>
                <a:lnTo>
                  <a:pt x="0" y="8017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9B235CA-ED3D-0185-BF7B-2A39002BE1B3}"/>
              </a:ext>
            </a:extLst>
          </p:cNvPr>
          <p:cNvSpPr txBox="1"/>
          <p:nvPr/>
        </p:nvSpPr>
        <p:spPr>
          <a:xfrm>
            <a:off x="2209800" y="495300"/>
            <a:ext cx="13484200" cy="101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IN" sz="6000" b="1" dirty="0">
                <a:solidFill>
                  <a:schemeClr val="bg1"/>
                </a:solidFill>
              </a:rPr>
              <a:t>Code Implementation: Output</a:t>
            </a:r>
            <a:endParaRPr lang="en-US" sz="6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506EF0-283A-8B52-1090-EADE9A5ED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938" y="2095500"/>
            <a:ext cx="6453667" cy="23289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2884FE-1B70-7474-F93C-77F1EB2EFE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498" y="4590829"/>
            <a:ext cx="8534400" cy="21027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3076D1-1B14-ADAD-8CF9-C4AE3954AF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0288" y="7068880"/>
            <a:ext cx="10884050" cy="292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182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36522-90AB-E9BC-C69F-5118CF11E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63EA86C0-D387-A794-316A-B7DDF8E61CA2}"/>
              </a:ext>
            </a:extLst>
          </p:cNvPr>
          <p:cNvSpPr/>
          <p:nvPr/>
        </p:nvSpPr>
        <p:spPr>
          <a:xfrm>
            <a:off x="18010276" y="4182015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60" y="0"/>
                </a:lnTo>
                <a:lnTo>
                  <a:pt x="5860360" y="8017904"/>
                </a:lnTo>
                <a:lnTo>
                  <a:pt x="0" y="8017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D2ABEAB-53CB-79AA-E957-3613D584EC4A}"/>
              </a:ext>
            </a:extLst>
          </p:cNvPr>
          <p:cNvSpPr/>
          <p:nvPr/>
        </p:nvSpPr>
        <p:spPr>
          <a:xfrm>
            <a:off x="-5584799" y="-1720677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59" y="0"/>
                </a:lnTo>
                <a:lnTo>
                  <a:pt x="5860359" y="8017905"/>
                </a:lnTo>
                <a:lnTo>
                  <a:pt x="0" y="8017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59C7EAD-F16D-5391-D187-B4517DEF3C5F}"/>
              </a:ext>
            </a:extLst>
          </p:cNvPr>
          <p:cNvSpPr txBox="1"/>
          <p:nvPr/>
        </p:nvSpPr>
        <p:spPr>
          <a:xfrm>
            <a:off x="2209800" y="495300"/>
            <a:ext cx="13484200" cy="101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IN" sz="6000" b="1" dirty="0">
                <a:solidFill>
                  <a:schemeClr val="bg1"/>
                </a:solidFill>
              </a:rPr>
              <a:t>Code Implementation: Output</a:t>
            </a:r>
            <a:endParaRPr lang="en-US" sz="6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9D5A2B-8D4F-D99B-5449-18BFFB4B2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646672"/>
            <a:ext cx="8482411" cy="24928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89E794-C201-9312-6EBE-DEC8AA54C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5905500"/>
            <a:ext cx="7848600" cy="292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631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8010276" y="4182015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60" y="0"/>
                </a:lnTo>
                <a:lnTo>
                  <a:pt x="5860360" y="8017904"/>
                </a:lnTo>
                <a:lnTo>
                  <a:pt x="0" y="8017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-5584799" y="-1720677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59" y="0"/>
                </a:lnTo>
                <a:lnTo>
                  <a:pt x="5860359" y="8017905"/>
                </a:lnTo>
                <a:lnTo>
                  <a:pt x="0" y="8017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2401900" y="1192462"/>
            <a:ext cx="13484200" cy="101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IN" sz="6000" b="1" dirty="0">
                <a:solidFill>
                  <a:schemeClr val="bg1"/>
                </a:solidFill>
              </a:rPr>
              <a:t>Code Implementation (Flask App)</a:t>
            </a:r>
            <a:endParaRPr lang="en-US" sz="6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3C0654C3-3010-720F-4125-239158B16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300" y="3296840"/>
            <a:ext cx="89154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Load saved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lang_model.pkl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vectorizer.pkl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Flask routes: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/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→ detect language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/performance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→ show model accuracy &amp; F1-scores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UI: text input box → predicted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Confidence score displayed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predict_proba()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Modern UI with HTML/CSS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32F826-6963-04ED-5F30-295B20423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E7E3D1B7-4421-D011-9FDE-F2CBCC1C79ED}"/>
              </a:ext>
            </a:extLst>
          </p:cNvPr>
          <p:cNvSpPr/>
          <p:nvPr/>
        </p:nvSpPr>
        <p:spPr>
          <a:xfrm>
            <a:off x="18010276" y="4182015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60" y="0"/>
                </a:lnTo>
                <a:lnTo>
                  <a:pt x="5860360" y="8017904"/>
                </a:lnTo>
                <a:lnTo>
                  <a:pt x="0" y="8017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2F1334E-2BEC-A786-BB26-7EEF0625DFDE}"/>
              </a:ext>
            </a:extLst>
          </p:cNvPr>
          <p:cNvSpPr/>
          <p:nvPr/>
        </p:nvSpPr>
        <p:spPr>
          <a:xfrm>
            <a:off x="-5584799" y="-1720677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59" y="0"/>
                </a:lnTo>
                <a:lnTo>
                  <a:pt x="5860359" y="8017905"/>
                </a:lnTo>
                <a:lnTo>
                  <a:pt x="0" y="8017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157677A-ACF3-A897-FF90-4B9701EFF13B}"/>
              </a:ext>
            </a:extLst>
          </p:cNvPr>
          <p:cNvSpPr txBox="1"/>
          <p:nvPr/>
        </p:nvSpPr>
        <p:spPr>
          <a:xfrm>
            <a:off x="2401900" y="1192462"/>
            <a:ext cx="13484200" cy="101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IN" sz="6000" b="1" dirty="0">
                <a:solidFill>
                  <a:schemeClr val="bg1"/>
                </a:solidFill>
              </a:rPr>
              <a:t>Code Implementation (Flask App)</a:t>
            </a:r>
            <a:endParaRPr lang="en-US" sz="6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24987-CC9C-3583-24DF-4FBA49207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4139045"/>
            <a:ext cx="7923849" cy="38166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F5B251-C91F-4CDE-A037-F4176AF89B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5144" y="2455461"/>
            <a:ext cx="9844578" cy="718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11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CD4FE-3AD1-462E-2454-F932174B7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D1BDDE27-0ED1-A5BB-73C7-F4851B0F544C}"/>
              </a:ext>
            </a:extLst>
          </p:cNvPr>
          <p:cNvSpPr/>
          <p:nvPr/>
        </p:nvSpPr>
        <p:spPr>
          <a:xfrm>
            <a:off x="18010276" y="4182015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60" y="0"/>
                </a:lnTo>
                <a:lnTo>
                  <a:pt x="5860360" y="8017904"/>
                </a:lnTo>
                <a:lnTo>
                  <a:pt x="0" y="8017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335D035-2123-4E8C-3960-E5FA486193CA}"/>
              </a:ext>
            </a:extLst>
          </p:cNvPr>
          <p:cNvSpPr/>
          <p:nvPr/>
        </p:nvSpPr>
        <p:spPr>
          <a:xfrm>
            <a:off x="-5584799" y="-1720677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59" y="0"/>
                </a:lnTo>
                <a:lnTo>
                  <a:pt x="5860359" y="8017905"/>
                </a:lnTo>
                <a:lnTo>
                  <a:pt x="0" y="8017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AE60AFB-A073-26B9-F155-C6473C16B60E}"/>
              </a:ext>
            </a:extLst>
          </p:cNvPr>
          <p:cNvSpPr txBox="1"/>
          <p:nvPr/>
        </p:nvSpPr>
        <p:spPr>
          <a:xfrm>
            <a:off x="2401900" y="1192462"/>
            <a:ext cx="13484200" cy="101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IN" sz="6000" b="1" dirty="0">
                <a:solidFill>
                  <a:schemeClr val="bg1"/>
                </a:solidFill>
              </a:rPr>
              <a:t>Code Implementation (Flask App)</a:t>
            </a:r>
            <a:endParaRPr lang="en-US" sz="6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FA58BE-26AD-6F51-750C-711E00A4A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16499"/>
            <a:ext cx="7973815" cy="57713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78F450-21C2-4032-F33A-E72CC20AA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3226560"/>
            <a:ext cx="8320687" cy="595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728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232E07-AC38-369A-875C-8C65DD64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3F8CC602-8AA8-53BE-8D90-5D19977D4FD2}"/>
              </a:ext>
            </a:extLst>
          </p:cNvPr>
          <p:cNvSpPr/>
          <p:nvPr/>
        </p:nvSpPr>
        <p:spPr>
          <a:xfrm>
            <a:off x="18010276" y="4182015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60" y="0"/>
                </a:lnTo>
                <a:lnTo>
                  <a:pt x="5860360" y="8017904"/>
                </a:lnTo>
                <a:lnTo>
                  <a:pt x="0" y="8017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DEC32BE-5D1B-6F1A-B183-60D4B3E4227A}"/>
              </a:ext>
            </a:extLst>
          </p:cNvPr>
          <p:cNvSpPr/>
          <p:nvPr/>
        </p:nvSpPr>
        <p:spPr>
          <a:xfrm>
            <a:off x="-5584799" y="-1720677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59" y="0"/>
                </a:lnTo>
                <a:lnTo>
                  <a:pt x="5860359" y="8017905"/>
                </a:lnTo>
                <a:lnTo>
                  <a:pt x="0" y="8017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4E804E3-1FDD-11A0-5F88-8BAAA218DF75}"/>
              </a:ext>
            </a:extLst>
          </p:cNvPr>
          <p:cNvSpPr txBox="1"/>
          <p:nvPr/>
        </p:nvSpPr>
        <p:spPr>
          <a:xfrm>
            <a:off x="2401900" y="1192462"/>
            <a:ext cx="13484200" cy="101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IN" sz="6000" b="1" dirty="0">
                <a:solidFill>
                  <a:schemeClr val="bg1"/>
                </a:solidFill>
              </a:rPr>
              <a:t>Code Implementation (Flask App)</a:t>
            </a:r>
            <a:endParaRPr lang="en-US" sz="6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460862-CECC-2E51-79A5-D46BEE71B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2705100"/>
            <a:ext cx="9753600" cy="676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835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5936345" y="800100"/>
            <a:ext cx="6509445" cy="1047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75"/>
              </a:lnSpc>
            </a:pPr>
            <a:r>
              <a:rPr lang="en-IN" sz="8000" b="1" dirty="0">
                <a:solidFill>
                  <a:schemeClr val="bg1"/>
                </a:solidFill>
              </a:rPr>
              <a:t>Results</a:t>
            </a:r>
            <a:endParaRPr lang="en-US" sz="75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" name="Rectangle 1">
            <a:extLst>
              <a:ext uri="{FF2B5EF4-FFF2-40B4-BE49-F238E27FC236}">
                <a16:creationId xmlns:a16="http://schemas.microsoft.com/office/drawing/2014/main" id="{66584E09-B975-EAB0-91DE-773E2FF558D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473874" y="11271117"/>
            <a:ext cx="2484755" cy="61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Rectangle 2">
            <a:extLst>
              <a:ext uri="{FF2B5EF4-FFF2-40B4-BE49-F238E27FC236}">
                <a16:creationId xmlns:a16="http://schemas.microsoft.com/office/drawing/2014/main" id="{50B18ABB-05F2-F4A2-E2CA-16A6DACB8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493645"/>
            <a:ext cx="69342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Accuracy: 99.9%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Macro F1-score: 1.0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Weighted F1-score: 1.0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Perfect per-language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Balanced dataset fixed model bias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Flask app predicts accurately in real-time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53266F-447A-6DD4-9161-CC1646AC8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F7BD0BFA-3DF3-9775-30C5-68B1CBFDB08F}"/>
              </a:ext>
            </a:extLst>
          </p:cNvPr>
          <p:cNvSpPr/>
          <p:nvPr/>
        </p:nvSpPr>
        <p:spPr>
          <a:xfrm>
            <a:off x="18010276" y="4182015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60" y="0"/>
                </a:lnTo>
                <a:lnTo>
                  <a:pt x="5860360" y="8017904"/>
                </a:lnTo>
                <a:lnTo>
                  <a:pt x="0" y="8017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85E2781-BAF9-7D4A-C812-6A18292CCEBD}"/>
              </a:ext>
            </a:extLst>
          </p:cNvPr>
          <p:cNvSpPr/>
          <p:nvPr/>
        </p:nvSpPr>
        <p:spPr>
          <a:xfrm>
            <a:off x="-5584799" y="-1720677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59" y="0"/>
                </a:lnTo>
                <a:lnTo>
                  <a:pt x="5860359" y="8017905"/>
                </a:lnTo>
                <a:lnTo>
                  <a:pt x="0" y="8017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1132480-74D6-C225-0515-77815BED087F}"/>
              </a:ext>
            </a:extLst>
          </p:cNvPr>
          <p:cNvSpPr txBox="1"/>
          <p:nvPr/>
        </p:nvSpPr>
        <p:spPr>
          <a:xfrm>
            <a:off x="2401900" y="1192462"/>
            <a:ext cx="13484200" cy="1079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IN" sz="8000" b="1" dirty="0">
                <a:solidFill>
                  <a:schemeClr val="bg1"/>
                </a:solidFill>
              </a:rPr>
              <a:t>Summary</a:t>
            </a:r>
            <a:endParaRPr lang="en-US" sz="8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9AC18F-4534-1FE5-69FA-51438FE45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696676"/>
            <a:ext cx="821595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Complete NLP + ML pipeline implemented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Very high performance achieved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Character-level n-grams ideal for language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Balanced dataset ensured fairness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Deployed using Flask for real-world usage</a:t>
            </a:r>
          </a:p>
        </p:txBody>
      </p:sp>
    </p:spTree>
    <p:extLst>
      <p:ext uri="{BB962C8B-B14F-4D97-AF65-F5344CB8AC3E}">
        <p14:creationId xmlns:p14="http://schemas.microsoft.com/office/powerpoint/2010/main" val="1827242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6973" y="-463450"/>
            <a:ext cx="7478465" cy="11489261"/>
          </a:xfrm>
          <a:custGeom>
            <a:avLst/>
            <a:gdLst/>
            <a:ahLst/>
            <a:cxnLst/>
            <a:rect l="l" t="t" r="r" b="b"/>
            <a:pathLst>
              <a:path w="7478465" h="11489261">
                <a:moveTo>
                  <a:pt x="0" y="0"/>
                </a:moveTo>
                <a:lnTo>
                  <a:pt x="7478465" y="0"/>
                </a:lnTo>
                <a:lnTo>
                  <a:pt x="7478465" y="11489261"/>
                </a:lnTo>
                <a:lnTo>
                  <a:pt x="0" y="1148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543800" y="495300"/>
            <a:ext cx="9538624" cy="1259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IN" sz="9600" b="1" dirty="0">
                <a:solidFill>
                  <a:schemeClr val="bg1"/>
                </a:solidFill>
              </a:rPr>
              <a:t>References</a:t>
            </a:r>
            <a:endParaRPr lang="en-US" sz="90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848600" y="2857500"/>
            <a:ext cx="9691024" cy="3780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Cavnar &amp; Trenkle (1994) – N-gram text categorization</a:t>
            </a:r>
          </a:p>
          <a:p>
            <a:endParaRPr lang="en-IN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Manning et al. – </a:t>
            </a:r>
            <a:r>
              <a:rPr lang="en-IN" sz="2400" b="1" i="1" dirty="0">
                <a:solidFill>
                  <a:schemeClr val="bg1"/>
                </a:solidFill>
              </a:rPr>
              <a:t>Introduction to Information Retrieval</a:t>
            </a:r>
          </a:p>
          <a:p>
            <a:endParaRPr lang="en-IN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scikit-learn documentation</a:t>
            </a:r>
          </a:p>
          <a:p>
            <a:endParaRPr lang="en-IN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imbalanced-learn documentation</a:t>
            </a:r>
          </a:p>
          <a:p>
            <a:endParaRPr lang="en-IN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Flask documentation</a:t>
            </a:r>
          </a:p>
          <a:p>
            <a:pPr algn="l">
              <a:lnSpc>
                <a:spcPts val="3919"/>
              </a:lnSpc>
            </a:pPr>
            <a:endParaRPr lang="en-US" sz="2400" b="1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4AB7C4-DF5D-BC9A-0C7C-FC70517A9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4FD6A70-C819-792D-D56F-A79ABE14234F}"/>
              </a:ext>
            </a:extLst>
          </p:cNvPr>
          <p:cNvSpPr/>
          <p:nvPr/>
        </p:nvSpPr>
        <p:spPr>
          <a:xfrm rot="5400000">
            <a:off x="2958943" y="-15181069"/>
            <a:ext cx="12370114" cy="18898785"/>
          </a:xfrm>
          <a:custGeom>
            <a:avLst/>
            <a:gdLst/>
            <a:ahLst/>
            <a:cxnLst/>
            <a:rect l="l" t="t" r="r" b="b"/>
            <a:pathLst>
              <a:path w="12370114" h="18898785">
                <a:moveTo>
                  <a:pt x="0" y="0"/>
                </a:moveTo>
                <a:lnTo>
                  <a:pt x="12370114" y="0"/>
                </a:lnTo>
                <a:lnTo>
                  <a:pt x="12370114" y="18898785"/>
                </a:lnTo>
                <a:lnTo>
                  <a:pt x="0" y="18898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1FA7FBC-931D-B71D-4A22-3566F1F98D3E}"/>
              </a:ext>
            </a:extLst>
          </p:cNvPr>
          <p:cNvSpPr/>
          <p:nvPr/>
        </p:nvSpPr>
        <p:spPr>
          <a:xfrm rot="5400000">
            <a:off x="2958943" y="6569317"/>
            <a:ext cx="12370114" cy="18898785"/>
          </a:xfrm>
          <a:custGeom>
            <a:avLst/>
            <a:gdLst/>
            <a:ahLst/>
            <a:cxnLst/>
            <a:rect l="l" t="t" r="r" b="b"/>
            <a:pathLst>
              <a:path w="12370114" h="18898785">
                <a:moveTo>
                  <a:pt x="0" y="0"/>
                </a:moveTo>
                <a:lnTo>
                  <a:pt x="12370114" y="0"/>
                </a:lnTo>
                <a:lnTo>
                  <a:pt x="12370114" y="18898785"/>
                </a:lnTo>
                <a:lnTo>
                  <a:pt x="0" y="18898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9FAA55D-D278-025B-1059-F5B348048B2F}"/>
              </a:ext>
            </a:extLst>
          </p:cNvPr>
          <p:cNvSpPr txBox="1"/>
          <p:nvPr/>
        </p:nvSpPr>
        <p:spPr>
          <a:xfrm>
            <a:off x="5469972" y="4533124"/>
            <a:ext cx="7348055" cy="1190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000"/>
              </a:lnSpc>
            </a:pPr>
            <a:r>
              <a:rPr lang="en-IN" sz="9600" b="1" dirty="0">
                <a:solidFill>
                  <a:schemeClr val="bg1"/>
                </a:solidFill>
              </a:rPr>
              <a:t>Thank You</a:t>
            </a:r>
            <a:endParaRPr lang="en-US" sz="9000" b="1" spc="-450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816897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4374</TotalTime>
  <Words>707</Words>
  <Application>Microsoft Office PowerPoint</Application>
  <PresentationFormat>Custom</PresentationFormat>
  <Paragraphs>153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DM Sans Bold</vt:lpstr>
      <vt:lpstr>DM Sans</vt:lpstr>
      <vt:lpstr>Calibri</vt:lpstr>
      <vt:lpstr>Arial Unicode MS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Artificial Intelligence Seminar Slides</dc:title>
  <dc:creator>Athul S</dc:creator>
  <cp:lastModifiedBy>Athul S</cp:lastModifiedBy>
  <cp:revision>5</cp:revision>
  <dcterms:created xsi:type="dcterms:W3CDTF">2006-08-16T00:00:00Z</dcterms:created>
  <dcterms:modified xsi:type="dcterms:W3CDTF">2025-11-23T19:10:23Z</dcterms:modified>
  <dc:identifier>DAG5Ql2cteM</dc:identifier>
</cp:coreProperties>
</file>